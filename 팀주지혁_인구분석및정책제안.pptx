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/0pCGYOjrPXcKp8mxRrRCMaRI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5274" y="504265"/>
            <a:ext cx="6070205" cy="58494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55494" y="319599"/>
            <a:ext cx="21050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[원본 데이터 파일]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494" y="2204477"/>
            <a:ext cx="84867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675" y="1017214"/>
            <a:ext cx="17907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696" y="458410"/>
            <a:ext cx="5962650" cy="59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8675" y="557938"/>
            <a:ext cx="6167344" cy="59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696" y="458410"/>
            <a:ext cx="5962650" cy="59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8675" y="557938"/>
            <a:ext cx="6167344" cy="59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 rot="2294119">
            <a:off x="1846874" y="3765255"/>
            <a:ext cx="408766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301" y="668564"/>
            <a:ext cx="8288179" cy="491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301" y="668564"/>
            <a:ext cx="8288179" cy="49194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 rot="415120">
            <a:off x="4147355" y="682602"/>
            <a:ext cx="408766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5"/>
          <p:cNvSpPr/>
          <p:nvPr/>
        </p:nvSpPr>
        <p:spPr>
          <a:xfrm flipH="1" rot="10384880">
            <a:off x="3866174" y="3372718"/>
            <a:ext cx="408766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5"/>
          <p:cNvSpPr/>
          <p:nvPr/>
        </p:nvSpPr>
        <p:spPr>
          <a:xfrm rot="415120">
            <a:off x="3715556" y="4949802"/>
            <a:ext cx="408766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864600" y="924918"/>
            <a:ext cx="914400" cy="914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887480" y="4468218"/>
            <a:ext cx="914400" cy="9144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6"/>
          <p:cNvGrpSpPr/>
          <p:nvPr/>
        </p:nvGrpSpPr>
        <p:grpSpPr>
          <a:xfrm>
            <a:off x="726302" y="2215274"/>
            <a:ext cx="4029845" cy="2436091"/>
            <a:chOff x="218301" y="969282"/>
            <a:chExt cx="8288179" cy="5010306"/>
          </a:xfrm>
        </p:grpSpPr>
        <p:pic>
          <p:nvPicPr>
            <p:cNvPr id="121" name="Google Shape;12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8301" y="969282"/>
              <a:ext cx="8288179" cy="49194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6"/>
            <p:cNvSpPr/>
            <p:nvPr/>
          </p:nvSpPr>
          <p:spPr>
            <a:xfrm rot="415120">
              <a:off x="2572555" y="1700470"/>
              <a:ext cx="408766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 flipH="1" rot="10384880">
              <a:off x="2469174" y="3673436"/>
              <a:ext cx="408766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 rot="415120">
              <a:off x="2318556" y="5250520"/>
              <a:ext cx="408766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7467600" y="1225636"/>
              <a:ext cx="914400" cy="9144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490480" y="4768936"/>
              <a:ext cx="914400" cy="9144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792" y="973684"/>
            <a:ext cx="6986823" cy="4875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848" y="898525"/>
            <a:ext cx="8431281" cy="50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1939926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6007100" y="3429000"/>
            <a:ext cx="576285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[중년층 감소 원인]  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아파트 공급 부재로 가족 정착 수요가 타 지역으로 이동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교육·육아·주거환경을 고려해 경기 동부(판교·위례·하남)로 전출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40·50대는 안정된 직장 기반 → 교통보다 주거 평형·쾌적성이 더 중요해짐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고령층 증가 원인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광장동·중곡동 등 구축 아파트 거주 고령층의 자연적 고령화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오랫동안 거주한 고령층이 그대로 남아 고령화 누적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 단독세대 증가 (특히 중곡1~4동)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6007100" y="242600"/>
            <a:ext cx="576285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[유소년층 감소 원인]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출산율 급감 (서울 최저 수준)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중산층 30·40대가 외곽(하남·광주·구리·성남)으로 이동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학령인구 감소가 전국적·구 단위로 확산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광진구 내 신규 대단지 공급이 거의 없음 → 젊은 가족층 유입 둔화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[청년층 감소하지만 '여전히 많음’  ]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건대입구·화양·구의 지역은 서울 동부권 대표 청년 생활권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대학(건국대·세종대) + 상권 + 지하철 2·7호선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다만 월세 상승과 반지하·노후 빌라 문제로 일부 전출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336164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/>
        </p:nvSpPr>
        <p:spPr>
          <a:xfrm>
            <a:off x="6007100" y="268000"/>
            <a:ext cx="576285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[유소년층 감소 원인]  </a:t>
            </a:r>
            <a:endParaRPr b="1"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출산율 급감 (서울 최저 수준)    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중산층 30·40대가 외곽(하남·광주·구리·성남)으로 이동    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학령인구 감소가 전국적·구 단위로 확산    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광진구 내 신규 대단지 공급이 거의 없음 → 젊은 가족층 유입 둔화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[청년층 감소하지만 '여전히 많음’  ]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건대입구·화양·구의 지역은 서울 동부권 대표 청년 생활권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대학(건국대·세종대) + 상권 + 지하철 2·7호선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다만 월세 상승과 반지하·노후 빌라 문제로 일부 전출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190025" y="3280912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714500" y="4206033"/>
            <a:ext cx="9166451" cy="21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역세권 중심 ‘청년 특화 임대주택’ 공급 → 건대입구역, 군자역, 자양사거리역 가능 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“건대 캠퍼스타운” 형태의 대학·지역 연계 정책 → 창업지원센터, 청년 라운지 조성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원룸·빌라 지역 환경개선 → 반지하·노후 빌라 재정비 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청년 커뮤니티 공간 확보 → 신촌처럼, 창업+스터디+문화 결합형 공간 만들기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청년월세 지원 + 주거상담센터 → 지역 기반 청년전용 지원플랫폼 운영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336164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 txBox="1"/>
          <p:nvPr/>
        </p:nvSpPr>
        <p:spPr>
          <a:xfrm>
            <a:off x="6007100" y="268000"/>
            <a:ext cx="576285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[유소년층 감소 원인]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출산율 급감 (서울 최저 수준)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중산층 30·40대가 외곽(하남·광주·구리·성남)으로 이동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학령인구 감소가 전국적·구 단위로 확산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광진구 내 신규 대단지 공급이 거의 없음 → 젊은 가족층 유입 둔화- 청년층 감소하지만 '여전히 많음’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건대입구·화양·구의 지역은 서울 동부권 대표 청년 생활권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대학(건국대·세종대) + 상권 + 지하철 2·7호선   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다만 월세 상승과 반지하·노후 빌라 문제로 일부 전출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8190025" y="2706368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1879600" y="4003544"/>
            <a:ext cx="9166451" cy="212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역세권 중심 ‘청년 특화 임대주택’ 공급 → 건대입구역, 군자역, 자양사거리역 가능 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“건대 캠퍼스타운” 형태의 대학·지역 연계 정책 → 창업지원센터, 청년 라운지 조성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원룸·빌라 지역 환경개선 → 반지하·노후 빌라 재정비 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청년 커뮤니티 공간 확보 → 신촌처럼, 창업+스터디+문화 결합형 공간 만들기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청년월세 지원 + 주거상담센터 → 지역 기반 청년전용 지원플랫폼 운영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9001" y="0"/>
            <a:ext cx="583399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1939926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1"/>
          <p:cNvSpPr txBox="1"/>
          <p:nvPr/>
        </p:nvSpPr>
        <p:spPr>
          <a:xfrm>
            <a:off x="6007100" y="268000"/>
            <a:ext cx="5762851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[중년층 감소 원인]  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아파트 공급 부재로 가족 정착 수요가 타 지역으로 이동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교육·육아·주거환경을 고려해 경기 동부(판교·위례·하남)로 전출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40·50대는 안정된 직장 기반 → 교통보다 주거 평형·쾌적성이 더 중요해짐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고령층 증가 원인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광장동·중곡동 등 구축 아파트 거주 고령층의 자연적 고령화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오랫동안 거주한 고령층이 그대로 남아 고령화 누적  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 단독세대 증가 (특히 중곡1~4동)</a:t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8190025" y="3067684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6629401" y="4465260"/>
            <a:ext cx="4673599" cy="222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방문간호·방문요양 확대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고령친화마을 조성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스마트워치 기반 낙상 감지 서비스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무장애 보행환경 조성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6400801" y="3943122"/>
            <a:ext cx="513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중곡1~4동, 광장동 → 고령층 비중 30% 이상</a:t>
            </a:r>
            <a:endParaRPr b="1" sz="180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1939926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6007100" y="268000"/>
            <a:ext cx="5762851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[중년층 감소 원인]  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아파트 공급 부재로 가족 정착 수요가 타 지역으로 이동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교육·육아·주거환경을 고려해 경기 동부(판교·위례·하남)로 전출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40·50대는 안정된 직장 기반 → 교통보다 주거 평형·쾌적성이 더 중요해짐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고령층 증가 원인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광장동·중곡동 등 구축 아파트 거주 고령층의 자연적 고령화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오랫동안 거주한 고령층이 그대로 남아 고령화 누적  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 단독세대 증가 (특히 중곡1~4동)</a:t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8190025" y="3067684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6629401" y="4465260"/>
            <a:ext cx="4673599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방문간호·방문요양 확대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고령친화마을 조성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스마트워치 기반 낙상 감지 서비스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무장애 보행환경 조성</a:t>
            </a:r>
            <a:endParaRPr/>
          </a:p>
        </p:txBody>
      </p:sp>
      <p:sp>
        <p:nvSpPr>
          <p:cNvPr id="175" name="Google Shape;175;p12"/>
          <p:cNvSpPr txBox="1"/>
          <p:nvPr/>
        </p:nvSpPr>
        <p:spPr>
          <a:xfrm>
            <a:off x="6400801" y="3943122"/>
            <a:ext cx="513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중곡1~4동, 광장동 → 고령층 비중 30% 이상</a:t>
            </a:r>
            <a:endParaRPr b="1" sz="180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1939926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6007100" y="268000"/>
            <a:ext cx="5762851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[중년층 감소 원인]  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아파트 공급 부재로 가족 정착 수요가 타 지역으로 이동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교육·육아·주거환경을 고려해 경기 동부(판교·위례·하남)로 전출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40·50대는 안정된 직장 기반 → 교통보다 주거 평형·쾌적성이 더 중요해짐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고령층 증가 원인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광장동·중곡동 등 구축 아파트 거주 고령층의 자연적 고령화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오랫동안 거주한 고령층이 그대로 남아 고령화 누적  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 단독세대 증가 (특히 중곡1~4동)</a:t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8190025" y="3067684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629401" y="4465260"/>
            <a:ext cx="46735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방문간호·방문요양 확대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고령친화마을 조성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스마트워치 기반 낙상 감지 서비스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무장애 보행환경 조성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6400801" y="3943122"/>
            <a:ext cx="513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중곡1~4동, 광장동 → 고령층 비중 30% 이상</a:t>
            </a:r>
            <a:endParaRPr b="1" sz="180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110" y="1192411"/>
            <a:ext cx="7411484" cy="493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162" y="452437"/>
            <a:ext cx="8829675" cy="59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49" y="1939926"/>
            <a:ext cx="5369152" cy="322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 txBox="1"/>
          <p:nvPr/>
        </p:nvSpPr>
        <p:spPr>
          <a:xfrm>
            <a:off x="6007100" y="268000"/>
            <a:ext cx="5762851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[중년층 감소 원인]   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아파트 공급 부재로 가족 정착 수요가 타 지역으로 이동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교육·육아·주거환경을 고려해 경기 동부(판교·위례·하남)로 전출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40·50대는 안정된 직장 기반 → 교통보다 주거 평형·쾌적성이 더 중요해짐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고령층 증가 원인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광장동·중곡동 등 구축 아파트 거주 고령층의 자연적 고령화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오랫동안 거주한 고령층이 그대로 남아 고령화 누적    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 단독세대 증가 (특히 중곡1~4동)</a:t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8190025" y="3067684"/>
            <a:ext cx="1397000" cy="7226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6629401" y="4465260"/>
            <a:ext cx="46735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방문간호·방문요양 확대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고령친화마을 조성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스마트워치 기반 낙상 감지 서비스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무장애 보행환경 조성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6400801" y="3943122"/>
            <a:ext cx="513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중곡1~4동, 광장동 → 고령층 비중 30% 이상</a:t>
            </a:r>
            <a:endParaRPr b="1" sz="180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110" y="1192411"/>
            <a:ext cx="7411484" cy="4934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2025-11-14T07:16:56Z</dcterms:created>
  <dc:creator>Admin</dc:creator>
</cp:coreProperties>
</file>